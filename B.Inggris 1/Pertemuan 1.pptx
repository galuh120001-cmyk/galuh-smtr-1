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60" r:id="rId1"/>
  </p:sldMasterIdLst>
  <p:notesMasterIdLst>
    <p:notesMasterId r:id="rId2"/>
  </p:notesMasterIdLst>
  <p:sldIdLst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3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9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/>
          <a:solidFill>
            <a:srgbClr val="263550"/>
          </a:solidFill>
          <a:ln w="12700">
            <a:solidFill>
              <a:srgbClr val="009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1371600" y="1645920"/>
            <a:ext cx="9448495" cy="25298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0096A6"/>
                </a:solidFill>
                <a:latin typeface="Arial"/>
              </a:defRPr>
            </a:pPr>
            <a:r>
              <a:t>ENGLISH 1</a:t>
            </a:r>
          </a:p>
          <a:p>
            <a:pPr>
              <a:spcBef>
                <a:spcPts val="1000"/>
              </a:spcBef>
              <a:defRPr b="1" sz="3600">
                <a:solidFill>
                  <a:srgbClr val="FFFFFF"/>
                </a:solidFill>
                <a:latin typeface="Arial"/>
              </a:defRPr>
            </a:pPr>
            <a:r>
              <a:t>WHERE ARE YOU FROM?</a:t>
            </a:r>
          </a:p>
          <a:p>
            <a:pPr>
              <a:spcBef>
                <a:spcPts val="1000"/>
              </a:spcBef>
              <a:defRPr sz="2000">
                <a:solidFill>
                  <a:srgbClr val="DCE1E6"/>
                </a:solidFill>
                <a:latin typeface="Calibri"/>
              </a:defRPr>
            </a:pPr>
            <a:r>
              <a:t>Introduction to English &amp; Getting to Know Each Other</a:t>
            </a:r>
          </a:p>
          <a:p>
            <a:pPr>
              <a:spcBef>
                <a:spcPts val="2000"/>
              </a:spcBef>
              <a:defRPr sz="1600" i="1">
                <a:solidFill>
                  <a:srgbClr val="E07A5F"/>
                </a:solidFill>
                <a:latin typeface="Calibri"/>
              </a:defRPr>
            </a:pPr>
            <a:r>
              <a:t>Let's start speaking English from day one!</a:t>
            </a:r>
          </a:p>
          <a:p>
            <a:pPr>
              <a:spcBef>
                <a:spcPts val="30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Lecturer: Ikhwan Muslim, M.Pd.</a:t>
            </a: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8748846" y="2387535"/>
            <a:ext cx="1922170" cy="2499771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586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Course Learning Outcomes (CPMK)</a:t>
            </a:r>
          </a:p>
        </p:txBody>
      </p:sp>
      <p:sp>
        <p:nvSpPr>
          <p:cNvPr id="1048587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3"/>
          <p:cNvSpPr txBox="1"/>
          <p:nvPr/>
        </p:nvSpPr>
        <p:spPr>
          <a:xfrm>
            <a:off x="1005840" y="1737360"/>
            <a:ext cx="4572000" cy="22885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CPMK 0801: Scientific Writing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Mampu menulis karya ilmiah dalam bahasa Indonesia dan Inggris dengan struktur yang benar.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Menggunakan tata bahasa yang baik dan sesuai kaidah akademis.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Menyampaikan ide secara logis dan sistematis dalam bidang Sistem Komputer.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Key skills: Write correctly, organize ideas, use technical vocabulary.</a:t>
            </a:r>
          </a:p>
        </p:txBody>
      </p:sp>
      <p:sp>
        <p:nvSpPr>
          <p:cNvPr id="1048589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5"/>
          <p:cNvSpPr txBox="1"/>
          <p:nvPr/>
        </p:nvSpPr>
        <p:spPr>
          <a:xfrm>
            <a:off x="6492240" y="1737360"/>
            <a:ext cx="4693615" cy="22885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CPMK 0803: Effective Communication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Mampu berkomunikasi secara efektif dalam bahasa Indonesia dan Inggris.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Presentasi hasil penelitian atau proyek di bidang Sistem Komputer.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Berinteraksi dengan jelas dan percaya diri dalam diskusi teknis.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Key skills: Present ideas, communicate clearly, talk about projects.</a:t>
            </a:r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235557" y="113466"/>
            <a:ext cx="688537" cy="89543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591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Course Overview &amp; Learning Pillars</a:t>
            </a:r>
          </a:p>
        </p:txBody>
      </p:sp>
      <p:sp>
        <p:nvSpPr>
          <p:cNvPr id="1048592" name="Rounded Rectangle 2"/>
          <p:cNvSpPr/>
          <p:nvPr/>
        </p:nvSpPr>
        <p:spPr>
          <a:xfrm>
            <a:off x="731520" y="1371600"/>
            <a:ext cx="10728655" cy="82296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3"/>
          <p:cNvSpPr txBox="1"/>
          <p:nvPr/>
        </p:nvSpPr>
        <p:spPr>
          <a:xfrm>
            <a:off x="914400" y="1508760"/>
            <a:ext cx="7915642" cy="3200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1500">
                <a:solidFill>
                  <a:srgbClr val="FFFFFF"/>
                </a:solidFill>
                <a:latin typeface="Arial"/>
              </a:defRPr>
            </a:pPr>
            <a:r>
              <a:t>OUR GOAL: Use English to communicate effectively — not just to memorize grammar rules!</a:t>
            </a:r>
          </a:p>
        </p:txBody>
      </p:sp>
      <p:sp>
        <p:nvSpPr>
          <p:cNvPr id="1048594" name="Rounded Rectangle 4"/>
          <p:cNvSpPr/>
          <p:nvPr/>
        </p:nvSpPr>
        <p:spPr>
          <a:xfrm>
            <a:off x="731520" y="237744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5"/>
          <p:cNvSpPr txBox="1"/>
          <p:nvPr/>
        </p:nvSpPr>
        <p:spPr>
          <a:xfrm>
            <a:off x="914400" y="251460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Reading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Understanding information from technical &amp; academic texts.</a:t>
            </a:r>
          </a:p>
        </p:txBody>
      </p:sp>
      <p:sp>
        <p:nvSpPr>
          <p:cNvPr id="1048596" name="Rounded Rectangle 6"/>
          <p:cNvSpPr/>
          <p:nvPr/>
        </p:nvSpPr>
        <p:spPr>
          <a:xfrm>
            <a:off x="4389120" y="237744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7"/>
          <p:cNvSpPr txBox="1"/>
          <p:nvPr/>
        </p:nvSpPr>
        <p:spPr>
          <a:xfrm>
            <a:off x="4572000" y="251460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Listening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Understanding spoken English in lectures &amp; conversations.</a:t>
            </a:r>
          </a:p>
        </p:txBody>
      </p:sp>
      <p:sp>
        <p:nvSpPr>
          <p:cNvPr id="1048598" name="Rounded Rectangle 8"/>
          <p:cNvSpPr/>
          <p:nvPr/>
        </p:nvSpPr>
        <p:spPr>
          <a:xfrm>
            <a:off x="8046720" y="237744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9"/>
          <p:cNvSpPr txBox="1"/>
          <p:nvPr/>
        </p:nvSpPr>
        <p:spPr>
          <a:xfrm>
            <a:off x="8229600" y="251460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Speaking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Expressing ideas clearly and interacting with others.</a:t>
            </a:r>
          </a:p>
        </p:txBody>
      </p:sp>
      <p:sp>
        <p:nvSpPr>
          <p:cNvPr id="1048600" name="Rounded Rectangle 10"/>
          <p:cNvSpPr/>
          <p:nvPr/>
        </p:nvSpPr>
        <p:spPr>
          <a:xfrm>
            <a:off x="731520" y="438912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1" name="TextBox 11"/>
          <p:cNvSpPr txBox="1"/>
          <p:nvPr/>
        </p:nvSpPr>
        <p:spPr>
          <a:xfrm>
            <a:off x="914400" y="452628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Writing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Writing sentences, paragraphs, and reports correctly.</a:t>
            </a:r>
          </a:p>
        </p:txBody>
      </p:sp>
      <p:sp>
        <p:nvSpPr>
          <p:cNvPr id="1048602" name="Rounded Rectangle 12"/>
          <p:cNvSpPr/>
          <p:nvPr/>
        </p:nvSpPr>
        <p:spPr>
          <a:xfrm>
            <a:off x="4389120" y="438912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13"/>
          <p:cNvSpPr txBox="1"/>
          <p:nvPr/>
        </p:nvSpPr>
        <p:spPr>
          <a:xfrm>
            <a:off x="4572000" y="452628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Grammar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Building accurate sentence structures for clear meaning.</a:t>
            </a:r>
          </a:p>
        </p:txBody>
      </p:sp>
      <p:sp>
        <p:nvSpPr>
          <p:cNvPr id="1048604" name="Rounded Rectangle 14"/>
          <p:cNvSpPr/>
          <p:nvPr/>
        </p:nvSpPr>
        <p:spPr>
          <a:xfrm>
            <a:off x="8046720" y="4389120"/>
            <a:ext cx="3291840" cy="17373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15"/>
          <p:cNvSpPr txBox="1"/>
          <p:nvPr/>
        </p:nvSpPr>
        <p:spPr>
          <a:xfrm>
            <a:off x="8229600" y="4526280"/>
            <a:ext cx="2926080" cy="7391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Vocabulary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Mastering general &amp; computer engineering terminology.</a:t>
            </a:r>
          </a:p>
        </p:txBody>
      </p: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467143" y="178391"/>
            <a:ext cx="688537" cy="895439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06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English in Computer Engineering</a:t>
            </a:r>
          </a:p>
        </p:txBody>
      </p:sp>
      <p:sp>
        <p:nvSpPr>
          <p:cNvPr id="1048607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TextBox 3"/>
          <p:cNvSpPr txBox="1"/>
          <p:nvPr/>
        </p:nvSpPr>
        <p:spPr>
          <a:xfrm>
            <a:off x="1005840" y="1645920"/>
            <a:ext cx="4572000" cy="21107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Where do you encounter English?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Software and applications user interfaces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Programming languages and syntax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Technical documentation and API guides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Online tutorials, forums (StackOverflow), and video guides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Research articles and scientific journals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✔ International project presentations &amp; team communication</a:t>
            </a:r>
          </a:p>
        </p:txBody>
      </p:sp>
      <p:sp>
        <p:nvSpPr>
          <p:cNvPr id="1048609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5"/>
          <p:cNvSpPr txBox="1"/>
          <p:nvPr/>
        </p:nvSpPr>
        <p:spPr>
          <a:xfrm>
            <a:off x="6492240" y="1645920"/>
            <a:ext cx="4693615" cy="18186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Everyday Technical Vocabulary</a:t>
            </a:r>
          </a:p>
          <a:p>
            <a:pPr>
              <a:spcBef>
                <a:spcPts val="800"/>
              </a:spcBef>
              <a:defRPr b="1" sz="1300">
                <a:solidFill>
                  <a:srgbClr val="0096A6"/>
                </a:solidFill>
                <a:latin typeface="Calibri"/>
              </a:defRPr>
            </a:pPr>
            <a:r>
              <a:t>• Algorithm: </a:t>
            </a:r>
            <a:r>
              <a:rPr b="0">
                <a:solidFill>
                  <a:srgbClr val="212529"/>
                </a:solidFill>
              </a:rPr>
              <a:t>Step-by-step procedure for calculations</a:t>
            </a:r>
          </a:p>
          <a:p>
            <a:pPr>
              <a:spcBef>
                <a:spcPts val="800"/>
              </a:spcBef>
              <a:defRPr b="1" sz="1300">
                <a:solidFill>
                  <a:srgbClr val="0096A6"/>
                </a:solidFill>
                <a:latin typeface="Calibri"/>
              </a:defRPr>
            </a:pPr>
            <a:r>
              <a:t>• Network: </a:t>
            </a:r>
            <a:r>
              <a:rPr b="0">
                <a:solidFill>
                  <a:srgbClr val="212529"/>
                </a:solidFill>
              </a:rPr>
              <a:t>Interconnected computing devices</a:t>
            </a:r>
          </a:p>
          <a:p>
            <a:pPr>
              <a:spcBef>
                <a:spcPts val="800"/>
              </a:spcBef>
              <a:defRPr b="1" sz="1300">
                <a:solidFill>
                  <a:srgbClr val="0096A6"/>
                </a:solidFill>
                <a:latin typeface="Calibri"/>
              </a:defRPr>
            </a:pPr>
            <a:r>
              <a:t>• Server: </a:t>
            </a:r>
            <a:r>
              <a:rPr b="0">
                <a:solidFill>
                  <a:srgbClr val="212529"/>
                </a:solidFill>
              </a:rPr>
              <a:t>System providing data/services to clients</a:t>
            </a:r>
          </a:p>
          <a:p>
            <a:pPr>
              <a:spcBef>
                <a:spcPts val="800"/>
              </a:spcBef>
              <a:defRPr b="1" sz="1300">
                <a:solidFill>
                  <a:srgbClr val="0096A6"/>
                </a:solidFill>
                <a:latin typeface="Calibri"/>
              </a:defRPr>
            </a:pPr>
            <a:r>
              <a:t>• Database: </a:t>
            </a:r>
            <a:r>
              <a:rPr b="0">
                <a:solidFill>
                  <a:srgbClr val="212529"/>
                </a:solidFill>
              </a:rPr>
              <a:t>Organized collection of structured data</a:t>
            </a:r>
          </a:p>
          <a:p>
            <a:pPr>
              <a:spcBef>
                <a:spcPts val="800"/>
              </a:spcBef>
              <a:defRPr b="1" sz="1300">
                <a:solidFill>
                  <a:srgbClr val="0096A6"/>
                </a:solidFill>
                <a:latin typeface="Calibri"/>
              </a:defRPr>
            </a:pPr>
            <a:r>
              <a:t>• Protocol: </a:t>
            </a:r>
            <a:r>
              <a:rPr b="0">
                <a:solidFill>
                  <a:srgbClr val="212529"/>
                </a:solidFill>
              </a:rPr>
              <a:t>Set of rules for data transmission</a:t>
            </a:r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331368" y="178390"/>
            <a:ext cx="688537" cy="895439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11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Classroom Rules &amp; Learning Mindset</a:t>
            </a:r>
          </a:p>
        </p:txBody>
      </p:sp>
      <p:sp>
        <p:nvSpPr>
          <p:cNvPr id="1048612" name="Rounded Rectangle 2"/>
          <p:cNvSpPr/>
          <p:nvPr/>
        </p:nvSpPr>
        <p:spPr>
          <a:xfrm>
            <a:off x="731520" y="1463040"/>
            <a:ext cx="594360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3" name="TextBox 3"/>
          <p:cNvSpPr txBox="1"/>
          <p:nvPr/>
        </p:nvSpPr>
        <p:spPr>
          <a:xfrm>
            <a:off x="1005840" y="1645920"/>
            <a:ext cx="5394960" cy="22250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Class Agreement (7 Rules)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1. Be on time for lectures and activities.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2. Participate actively in all discussions.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3. Respect your classmates and lecturer.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4. Try to speak English whenever possible.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5. Don't be afraid of making mistakes!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6. Bring the required learning materials.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7. Submit assignments strictly on time.</a:t>
            </a:r>
          </a:p>
        </p:txBody>
      </p:sp>
      <p:sp>
        <p:nvSpPr>
          <p:cNvPr id="1048614" name="Rounded Rectangle 4"/>
          <p:cNvSpPr/>
          <p:nvPr/>
        </p:nvSpPr>
        <p:spPr>
          <a:xfrm>
            <a:off x="6949440" y="1463040"/>
            <a:ext cx="4510735" cy="219456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5"/>
          <p:cNvSpPr txBox="1"/>
          <p:nvPr/>
        </p:nvSpPr>
        <p:spPr>
          <a:xfrm>
            <a:off x="7132320" y="1600200"/>
            <a:ext cx="4144975" cy="853440"/>
          </a:xfrm>
          <a:prstGeom prst="rect"/>
          <a:noFill/>
        </p:spPr>
        <p:txBody>
          <a:bodyPr wrap="square">
            <a:spAutoFit/>
          </a:bodyPr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OUR CORE PRINCIPLE:</a:t>
            </a:r>
          </a:p>
          <a:p>
            <a:pPr>
              <a:spcBef>
                <a:spcPts val="800"/>
              </a:spcBef>
              <a:defRPr b="1" sz="1600">
                <a:solidFill>
                  <a:srgbClr val="FFFFFF"/>
                </a:solidFill>
                <a:latin typeface="Arial"/>
              </a:defRPr>
            </a:pPr>
            <a:r>
              <a:t>"Mistakes are part of learning. No judgment — just learning!"</a:t>
            </a:r>
          </a:p>
        </p:txBody>
      </p:sp>
      <p:sp>
        <p:nvSpPr>
          <p:cNvPr id="1048616" name="Rounded Rectangle 6"/>
          <p:cNvSpPr/>
          <p:nvPr/>
        </p:nvSpPr>
        <p:spPr>
          <a:xfrm>
            <a:off x="6949440" y="3840480"/>
            <a:ext cx="4510735" cy="237744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7"/>
          <p:cNvSpPr txBox="1"/>
          <p:nvPr/>
        </p:nvSpPr>
        <p:spPr>
          <a:xfrm>
            <a:off x="7132320" y="3977639"/>
            <a:ext cx="4144975" cy="1463040"/>
          </a:xfrm>
          <a:prstGeom prst="rect"/>
          <a:noFill/>
        </p:spPr>
        <p:txBody>
          <a:bodyPr wrap="square">
            <a:spAutoFit/>
          </a:bodyPr>
          <a:p>
            <a:pPr>
              <a:defRPr b="1" sz="1500">
                <a:solidFill>
                  <a:srgbClr val="1B263B"/>
                </a:solidFill>
                <a:latin typeface="Arial"/>
              </a:defRPr>
            </a:pPr>
            <a:r>
              <a:t>What Makes English Difficult for You?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A. Vocabulary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B. Grammar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C. Speaking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D. Listening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E. Pronunciation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  <a:latin typeface="Calibri"/>
              </a:defRPr>
            </a:pPr>
            <a:r>
              <a:t>F. Fear of making mistakes</a:t>
            </a:r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588758" y="178391"/>
            <a:ext cx="688537" cy="895439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1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Introducing Yourself: Core Expressions</a:t>
            </a:r>
          </a:p>
        </p:txBody>
      </p:sp>
      <p:sp>
        <p:nvSpPr>
          <p:cNvPr id="1048619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3"/>
          <p:cNvSpPr txBox="1"/>
          <p:nvPr/>
        </p:nvSpPr>
        <p:spPr>
          <a:xfrm>
            <a:off x="1005840" y="1645920"/>
            <a:ext cx="4572000" cy="17805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4 Key Questions to Answer</a:t>
            </a:r>
          </a:p>
          <a:p>
            <a:pPr>
              <a:spcBef>
                <a:spcPts val="12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1. Name: </a:t>
            </a:r>
            <a:r>
              <a:rPr b="0">
                <a:solidFill>
                  <a:srgbClr val="212529"/>
                </a:solidFill>
              </a:rPr>
              <a:t>What's your name?</a:t>
            </a:r>
          </a:p>
          <a:p>
            <a:pPr>
              <a:spcBef>
                <a:spcPts val="12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2. Nickname: </a:t>
            </a:r>
            <a:r>
              <a:rPr b="0">
                <a:solidFill>
                  <a:srgbClr val="212529"/>
                </a:solidFill>
              </a:rPr>
              <a:t>What do people call you?</a:t>
            </a:r>
          </a:p>
          <a:p>
            <a:pPr>
              <a:spcBef>
                <a:spcPts val="12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3. Origin: </a:t>
            </a:r>
            <a:r>
              <a:rPr b="0">
                <a:solidFill>
                  <a:srgbClr val="212529"/>
                </a:solidFill>
              </a:rPr>
              <a:t>Where are you from?</a:t>
            </a:r>
          </a:p>
          <a:p>
            <a:pPr>
              <a:spcBef>
                <a:spcPts val="12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4. Major: </a:t>
            </a:r>
            <a:r>
              <a:rPr b="0">
                <a:solidFill>
                  <a:srgbClr val="212529"/>
                </a:solidFill>
              </a:rPr>
              <a:t>What's your major?</a:t>
            </a:r>
          </a:p>
        </p:txBody>
      </p:sp>
      <p:sp>
        <p:nvSpPr>
          <p:cNvPr id="1048621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5"/>
          <p:cNvSpPr txBox="1"/>
          <p:nvPr/>
        </p:nvSpPr>
        <p:spPr>
          <a:xfrm>
            <a:off x="6492240" y="1645920"/>
            <a:ext cx="4693615" cy="20980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Useful Expressions &amp; Example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Hi! I'm [Name]. / My name is [Name].</a:t>
            </a:r>
          </a:p>
          <a:p>
            <a:pPr>
              <a:defRPr sz="1300">
                <a:latin typeface="Calibri"/>
              </a:defRPr>
            </a:pPr>
            <a:r>
              <a:t>• People call me [Nickname].</a:t>
            </a:r>
          </a:p>
          <a:p>
            <a:pPr>
              <a:defRPr sz="1300">
                <a:latin typeface="Calibri"/>
              </a:defRPr>
            </a:pPr>
            <a:r>
              <a:t>• I'm from [City/Country].</a:t>
            </a:r>
          </a:p>
          <a:p>
            <a:pPr>
              <a:defRPr sz="1300">
                <a:latin typeface="Calibri"/>
              </a:defRPr>
            </a:pPr>
            <a:r>
              <a:t>• I'm a Computer Engineering student.</a:t>
            </a:r>
          </a:p>
          <a:p>
            <a:pPr>
              <a:defRPr sz="1300">
                <a:solidFill>
                  <a:srgbClr val="E07A5F"/>
                </a:solidFill>
                <a:latin typeface="Calibri"/>
              </a:defRPr>
            </a:pPr>
            <a:r>
              <a:t>• Nice to meet you. -&gt; Response: Nice to meet you, too.</a:t>
            </a:r>
          </a:p>
          <a:p>
            <a:pPr>
              <a:spcBef>
                <a:spcPts val="1200"/>
              </a:spcBef>
              <a:defRPr sz="1200" i="1">
                <a:solidFill>
                  <a:srgbClr val="6C757D"/>
                </a:solidFill>
                <a:latin typeface="Calibri"/>
              </a:defRPr>
            </a:pPr>
            <a:r>
              <a:t>Example:</a:t>
            </a:r>
            <a:br/>
            <a:r>
              <a:t>"Hi, my name is Rizky. People call me Rizky. I'm from Bekasi. I'm a Computer Engineering student."</a:t>
            </a:r>
          </a:p>
        </p:txBody>
      </p:sp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096249" y="0"/>
            <a:ext cx="688537" cy="895439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2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Practice Conversation: Meeting a Partner</a:t>
            </a:r>
          </a:p>
        </p:txBody>
      </p:sp>
      <p:sp>
        <p:nvSpPr>
          <p:cNvPr id="1048624" name="Rounded Rectangle 2"/>
          <p:cNvSpPr/>
          <p:nvPr/>
        </p:nvSpPr>
        <p:spPr>
          <a:xfrm>
            <a:off x="1371600" y="1463040"/>
            <a:ext cx="9448495" cy="38404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3"/>
          <p:cNvSpPr txBox="1"/>
          <p:nvPr/>
        </p:nvSpPr>
        <p:spPr>
          <a:xfrm>
            <a:off x="1645920" y="1645920"/>
            <a:ext cx="8899855" cy="23647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CONVERSATION 1: PRACTICE WITH YOUR PARTNER</a:t>
            </a:r>
          </a:p>
          <a:p>
            <a:pPr>
              <a:spcBef>
                <a:spcPts val="4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A: </a:t>
            </a:r>
            <a:r>
              <a:rPr b="0">
                <a:solidFill>
                  <a:srgbClr val="212529"/>
                </a:solidFill>
              </a:rPr>
              <a:t>Hi! I'm Rina.</a:t>
            </a:r>
          </a:p>
          <a:p>
            <a:pPr>
              <a:spcBef>
                <a:spcPts val="4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B: </a:t>
            </a:r>
            <a:r>
              <a:rPr b="0">
                <a:solidFill>
                  <a:srgbClr val="212529"/>
                </a:solidFill>
              </a:rPr>
              <a:t>Hi! My name is Andi.</a:t>
            </a:r>
          </a:p>
          <a:p>
            <a:pPr>
              <a:spcBef>
                <a:spcPts val="4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A: </a:t>
            </a:r>
            <a:r>
              <a:rPr b="0">
                <a:solidFill>
                  <a:srgbClr val="212529"/>
                </a:solidFill>
              </a:rPr>
              <a:t>Nice to meet you.</a:t>
            </a:r>
          </a:p>
          <a:p>
            <a:pPr>
              <a:spcBef>
                <a:spcPts val="4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B: </a:t>
            </a:r>
            <a:r>
              <a:rPr b="0">
                <a:solidFill>
                  <a:srgbClr val="212529"/>
                </a:solidFill>
              </a:rPr>
              <a:t>Nice to meet you, too.</a:t>
            </a:r>
          </a:p>
          <a:p>
            <a:pPr>
              <a:spcBef>
                <a:spcPts val="4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A: </a:t>
            </a:r>
            <a:r>
              <a:rPr b="0">
                <a:solidFill>
                  <a:srgbClr val="212529"/>
                </a:solidFill>
              </a:rPr>
              <a:t>Where are you from?</a:t>
            </a:r>
          </a:p>
          <a:p>
            <a:pPr>
              <a:spcBef>
                <a:spcPts val="4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B: </a:t>
            </a:r>
            <a:r>
              <a:rPr b="0">
                <a:solidFill>
                  <a:srgbClr val="212529"/>
                </a:solidFill>
              </a:rPr>
              <a:t>I'm from Bekasi.</a:t>
            </a:r>
          </a:p>
          <a:p>
            <a:pPr>
              <a:spcBef>
                <a:spcPts val="4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A: </a:t>
            </a:r>
            <a:r>
              <a:rPr b="0">
                <a:solidFill>
                  <a:srgbClr val="212529"/>
                </a:solidFill>
              </a:rPr>
              <a:t>What's your major?</a:t>
            </a:r>
          </a:p>
          <a:p>
            <a:pPr>
              <a:spcBef>
                <a:spcPts val="4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B: </a:t>
            </a:r>
            <a:r>
              <a:rPr b="0">
                <a:solidFill>
                  <a:srgbClr val="212529"/>
                </a:solidFill>
              </a:rPr>
              <a:t>I'm a Computer Engineering student.</a:t>
            </a:r>
          </a:p>
        </p:txBody>
      </p:sp>
      <p:sp>
        <p:nvSpPr>
          <p:cNvPr id="1048626" name="Rounded Rectangle 4"/>
          <p:cNvSpPr/>
          <p:nvPr/>
        </p:nvSpPr>
        <p:spPr>
          <a:xfrm>
            <a:off x="1371600" y="5486400"/>
            <a:ext cx="9448495" cy="73152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5"/>
          <p:cNvSpPr txBox="1"/>
          <p:nvPr/>
        </p:nvSpPr>
        <p:spPr>
          <a:xfrm>
            <a:off x="1554480" y="5623560"/>
            <a:ext cx="5190798" cy="2946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Task: Practice with the person next to you, then SWITCH ROLES!</a:t>
            </a:r>
          </a:p>
        </p:txBody>
      </p:sp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9918856" y="178390"/>
            <a:ext cx="688537" cy="895439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8" name=""/>
        <p:cNvGrpSpPr/>
        <p:nvPr/>
      </p:nvGrpSpPr>
      <p:grpSpPr>
        <a:xfrm/>
      </p:grpSpPr>
      <p:sp>
        <p:nvSpPr>
          <p:cNvPr id="104862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Interchange Conversation &amp; Comprehension Check</a:t>
            </a:r>
          </a:p>
        </p:txBody>
      </p:sp>
      <p:sp>
        <p:nvSpPr>
          <p:cNvPr id="1048629" name="Rounded Rectangle 2"/>
          <p:cNvSpPr/>
          <p:nvPr/>
        </p:nvSpPr>
        <p:spPr>
          <a:xfrm>
            <a:off x="731520" y="1463040"/>
            <a:ext cx="548640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3"/>
          <p:cNvSpPr txBox="1"/>
          <p:nvPr/>
        </p:nvSpPr>
        <p:spPr>
          <a:xfrm>
            <a:off x="914400" y="1645920"/>
            <a:ext cx="5120640" cy="20599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Listen &amp; Notice: Arturo &amp; Alexa</a:t>
            </a:r>
          </a:p>
          <a:p>
            <a:pPr>
              <a:spcBef>
                <a:spcPts val="300"/>
              </a:spcBef>
              <a:defRPr b="1" sz="1200">
                <a:solidFill>
                  <a:srgbClr val="0096A6"/>
                </a:solidFill>
                <a:latin typeface="Calibri"/>
              </a:defRPr>
            </a:pPr>
            <a:r>
              <a:t>Arturo: </a:t>
            </a:r>
            <a:r>
              <a:rPr b="0">
                <a:solidFill>
                  <a:srgbClr val="212529"/>
                </a:solidFill>
              </a:rPr>
              <a:t>Hello, I'm Arturo Valdez.</a:t>
            </a:r>
          </a:p>
          <a:p>
            <a:pPr>
              <a:spcBef>
                <a:spcPts val="300"/>
              </a:spcBef>
              <a:defRPr b="1" sz="1200">
                <a:solidFill>
                  <a:srgbClr val="E07A5F"/>
                </a:solidFill>
                <a:latin typeface="Calibri"/>
              </a:defRPr>
            </a:pPr>
            <a:r>
              <a:t>Alexa: </a:t>
            </a:r>
            <a:r>
              <a:rPr b="0">
                <a:solidFill>
                  <a:srgbClr val="212529"/>
                </a:solidFill>
              </a:rPr>
              <a:t>Hi. My name is Alexandra Costa, but please call me Alexa.</a:t>
            </a:r>
          </a:p>
          <a:p>
            <a:pPr>
              <a:spcBef>
                <a:spcPts val="300"/>
              </a:spcBef>
              <a:defRPr b="1" sz="1200">
                <a:solidFill>
                  <a:srgbClr val="0096A6"/>
                </a:solidFill>
                <a:latin typeface="Calibri"/>
              </a:defRPr>
            </a:pPr>
            <a:r>
              <a:t>Arturo: </a:t>
            </a:r>
            <a:r>
              <a:rPr b="0">
                <a:solidFill>
                  <a:srgbClr val="212529"/>
                </a:solidFill>
              </a:rPr>
              <a:t>OK. Where are you from, Alexa?</a:t>
            </a:r>
          </a:p>
          <a:p>
            <a:pPr>
              <a:spcBef>
                <a:spcPts val="300"/>
              </a:spcBef>
              <a:defRPr b="1" sz="1200">
                <a:solidFill>
                  <a:srgbClr val="E07A5F"/>
                </a:solidFill>
                <a:latin typeface="Calibri"/>
              </a:defRPr>
            </a:pPr>
            <a:r>
              <a:t>Alexa: </a:t>
            </a:r>
            <a:r>
              <a:rPr b="0">
                <a:solidFill>
                  <a:srgbClr val="212529"/>
                </a:solidFill>
              </a:rPr>
              <a:t>Brazil. How about you?</a:t>
            </a:r>
          </a:p>
          <a:p>
            <a:pPr>
              <a:spcBef>
                <a:spcPts val="300"/>
              </a:spcBef>
              <a:defRPr b="1" sz="1200">
                <a:solidFill>
                  <a:srgbClr val="0096A6"/>
                </a:solidFill>
                <a:latin typeface="Calibri"/>
              </a:defRPr>
            </a:pPr>
            <a:r>
              <a:t>Arturo: </a:t>
            </a:r>
            <a:r>
              <a:rPr b="0">
                <a:solidFill>
                  <a:srgbClr val="212529"/>
                </a:solidFill>
              </a:rPr>
              <a:t>I'm from Mexico.</a:t>
            </a:r>
          </a:p>
          <a:p>
            <a:pPr>
              <a:spcBef>
                <a:spcPts val="300"/>
              </a:spcBef>
              <a:defRPr b="1" sz="1200">
                <a:solidFill>
                  <a:srgbClr val="E07A5F"/>
                </a:solidFill>
                <a:latin typeface="Calibri"/>
              </a:defRPr>
            </a:pPr>
            <a:r>
              <a:t>Alexa: </a:t>
            </a:r>
            <a:r>
              <a:rPr b="0">
                <a:solidFill>
                  <a:srgbClr val="212529"/>
                </a:solidFill>
              </a:rPr>
              <a:t>Oh, I love Mexico! It's really beautiful.</a:t>
            </a:r>
          </a:p>
          <a:p>
            <a:pPr>
              <a:spcBef>
                <a:spcPts val="300"/>
              </a:spcBef>
              <a:defRPr b="1" sz="1200">
                <a:solidFill>
                  <a:srgbClr val="0096A6"/>
                </a:solidFill>
                <a:latin typeface="Calibri"/>
              </a:defRPr>
            </a:pPr>
            <a:r>
              <a:t>Arturo: </a:t>
            </a:r>
            <a:r>
              <a:rPr b="0">
                <a:solidFill>
                  <a:srgbClr val="212529"/>
                </a:solidFill>
              </a:rPr>
              <a:t>Who's Soo-jin?</a:t>
            </a:r>
          </a:p>
          <a:p>
            <a:pPr>
              <a:spcBef>
                <a:spcPts val="300"/>
              </a:spcBef>
              <a:defRPr b="1" sz="1200">
                <a:solidFill>
                  <a:srgbClr val="E07A5F"/>
                </a:solidFill>
                <a:latin typeface="Calibri"/>
              </a:defRPr>
            </a:pPr>
            <a:r>
              <a:t>Alexa: </a:t>
            </a:r>
            <a:r>
              <a:rPr b="0">
                <a:solidFill>
                  <a:srgbClr val="212529"/>
                </a:solidFill>
              </a:rPr>
              <a:t>She's my classmate. We're in the same business class.</a:t>
            </a:r>
          </a:p>
        </p:txBody>
      </p:sp>
      <p:sp>
        <p:nvSpPr>
          <p:cNvPr id="1048631" name="Rounded Rectangle 4"/>
          <p:cNvSpPr/>
          <p:nvPr/>
        </p:nvSpPr>
        <p:spPr>
          <a:xfrm>
            <a:off x="6492240" y="1463040"/>
            <a:ext cx="496793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5"/>
          <p:cNvSpPr txBox="1"/>
          <p:nvPr/>
        </p:nvSpPr>
        <p:spPr>
          <a:xfrm>
            <a:off x="6675120" y="1645920"/>
            <a:ext cx="4602175" cy="22123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Check Your Understanding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1. What's the man's name?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Answer: B. Arturo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2. Where is Alexa from?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Answer: B. Brazil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3. Where is Arturo from?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Answer: A. Mexico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4. Who is Soo-jin?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Answer: C. Alexa's classmate</a:t>
            </a:r>
          </a:p>
        </p:txBody>
      </p:sp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290558" y="90089"/>
            <a:ext cx="688537" cy="895439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39" name=""/>
        <p:cNvGrpSpPr/>
        <p:nvPr/>
      </p:nvGrpSpPr>
      <p:grpSpPr>
        <a:xfrm/>
      </p:grpSpPr>
      <p:sp>
        <p:nvSpPr>
          <p:cNvPr id="104863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Checking Information &amp; Spelling</a:t>
            </a:r>
          </a:p>
        </p:txBody>
      </p:sp>
      <p:sp>
        <p:nvSpPr>
          <p:cNvPr id="1048634" name="Rounded Rectangle 2"/>
          <p:cNvSpPr/>
          <p:nvPr/>
        </p:nvSpPr>
        <p:spPr>
          <a:xfrm>
            <a:off x="731520" y="1463040"/>
            <a:ext cx="530352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3"/>
          <p:cNvSpPr txBox="1"/>
          <p:nvPr/>
        </p:nvSpPr>
        <p:spPr>
          <a:xfrm>
            <a:off x="1005840" y="1645920"/>
            <a:ext cx="4754880" cy="25933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How Do You Spell That?</a:t>
            </a:r>
          </a:p>
          <a:p>
            <a:pPr>
              <a:spcBef>
                <a:spcPts val="600"/>
              </a:spcBef>
              <a:defRPr sz="1300">
                <a:solidFill>
                  <a:srgbClr val="6C757D"/>
                </a:solidFill>
                <a:latin typeface="Calibri"/>
              </a:defRPr>
            </a:pPr>
            <a:r>
              <a:t>Useful Expressions when you don't hear or understand a name:</a:t>
            </a:r>
          </a:p>
          <a:p>
            <a:pPr>
              <a:spcBef>
                <a:spcPts val="6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What's your last name again?</a:t>
            </a:r>
          </a:p>
          <a:p>
            <a:pPr>
              <a:spcBef>
                <a:spcPts val="6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How do you spell that?</a:t>
            </a:r>
          </a:p>
          <a:p>
            <a:pPr>
              <a:spcBef>
                <a:spcPts val="6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Could you spell your name, please?</a:t>
            </a:r>
          </a:p>
          <a:p>
            <a:pPr>
              <a:spcBef>
                <a:spcPts val="1400"/>
              </a:spcBef>
              <a:defRPr sz="1300" i="1">
                <a:solidFill>
                  <a:srgbClr val="212529"/>
                </a:solidFill>
                <a:latin typeface="Calibri"/>
              </a:defRPr>
            </a:pPr>
            <a:r>
              <a:t>Example Dialogue:</a:t>
            </a:r>
            <a:br/>
            <a:r>
              <a:t>A: What's your last name?</a:t>
            </a:r>
            <a:br/>
            <a:r>
              <a:t>B: Muslim.</a:t>
            </a:r>
            <a:br/>
            <a:r>
              <a:t>A: How do you spell that?</a:t>
            </a:r>
            <a:br/>
            <a:r>
              <a:t>B: M - U - S - L - I - M</a:t>
            </a:r>
          </a:p>
        </p:txBody>
      </p:sp>
      <p:sp>
        <p:nvSpPr>
          <p:cNvPr id="1048636" name="Rounded Rectangle 4"/>
          <p:cNvSpPr/>
          <p:nvPr/>
        </p:nvSpPr>
        <p:spPr>
          <a:xfrm>
            <a:off x="6309360" y="1463040"/>
            <a:ext cx="5150815" cy="475488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5"/>
          <p:cNvSpPr txBox="1"/>
          <p:nvPr/>
        </p:nvSpPr>
        <p:spPr>
          <a:xfrm>
            <a:off x="6583680" y="1737360"/>
            <a:ext cx="4602175" cy="24155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  <a:latin typeface="Arial"/>
              </a:defRPr>
            </a:pPr>
            <a:r>
              <a:t>YOUR TURN: SPELL YOUR NAME!</a:t>
            </a:r>
          </a:p>
          <a:p>
            <a:pPr>
              <a:spcBef>
                <a:spcPts val="1000"/>
              </a:spcBef>
              <a:defRPr sz="1400">
                <a:solidFill>
                  <a:srgbClr val="DCE1E6"/>
                </a:solidFill>
                <a:latin typeface="Calibri"/>
              </a:defRPr>
            </a:pPr>
            <a:r>
              <a:t>1. Work with a partner.</a:t>
            </a:r>
          </a:p>
          <a:p>
            <a:pPr>
              <a:spcBef>
                <a:spcPts val="1000"/>
              </a:spcBef>
              <a:defRPr sz="1400">
                <a:solidFill>
                  <a:srgbClr val="DCE1E6"/>
                </a:solidFill>
                <a:latin typeface="Calibri"/>
              </a:defRPr>
            </a:pPr>
            <a:r>
              <a:t>2. Student A: Tell your full name.</a:t>
            </a:r>
          </a:p>
          <a:p>
            <a:pPr>
              <a:spcBef>
                <a:spcPts val="1000"/>
              </a:spcBef>
              <a:defRPr sz="1400">
                <a:solidFill>
                  <a:srgbClr val="DCE1E6"/>
                </a:solidFill>
                <a:latin typeface="Calibri"/>
              </a:defRPr>
            </a:pPr>
            <a:r>
              <a:t>3. Student B: Ask 'How do you spell that?' and write it down.</a:t>
            </a:r>
          </a:p>
          <a:p>
            <a:pPr>
              <a:spcBef>
                <a:spcPts val="1000"/>
              </a:spcBef>
              <a:defRPr sz="1400">
                <a:solidFill>
                  <a:srgbClr val="DCE1E6"/>
                </a:solidFill>
                <a:latin typeface="Calibri"/>
              </a:defRPr>
            </a:pPr>
            <a:r>
              <a:t>4. Switch roles!</a:t>
            </a:r>
          </a:p>
          <a:p>
            <a:pPr>
              <a:spcBef>
                <a:spcPts val="1000"/>
              </a:spcBef>
              <a:defRPr sz="1400">
                <a:solidFill>
                  <a:srgbClr val="E07A5F"/>
                </a:solidFill>
                <a:latin typeface="Calibri"/>
              </a:defRPr>
            </a:pPr>
            <a:r>
              <a:t>🔥 Challenge: Don't show your partner your name in writing — spell it aloud letter by letter!</a:t>
            </a:r>
          </a:p>
        </p:txBody>
      </p:sp>
      <p:pic>
        <p:nvPicPr>
          <p:cNvPr id="209716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9969474" y="178390"/>
            <a:ext cx="688537" cy="895439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0" name=""/>
        <p:cNvGrpSpPr/>
        <p:nvPr/>
      </p:nvGrpSpPr>
      <p:grpSpPr>
        <a:xfrm/>
      </p:grpSpPr>
      <p:sp>
        <p:nvSpPr>
          <p:cNvPr id="104863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Countries and Nationalities</a:t>
            </a:r>
          </a:p>
        </p:txBody>
      </p:sp>
      <p:sp>
        <p:nvSpPr>
          <p:cNvPr id="1048639" name="Rounded Rectangle 2"/>
          <p:cNvSpPr/>
          <p:nvPr/>
        </p:nvSpPr>
        <p:spPr>
          <a:xfrm>
            <a:off x="731520" y="1371600"/>
            <a:ext cx="10728655" cy="1371600"/>
          </a:xfrm>
          <a:prstGeom prst="roundRect"/>
          <a:solidFill>
            <a:srgbClr val="0096A6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3"/>
          <p:cNvSpPr txBox="1"/>
          <p:nvPr/>
        </p:nvSpPr>
        <p:spPr>
          <a:xfrm>
            <a:off x="914400" y="1508760"/>
            <a:ext cx="10362895" cy="853440"/>
          </a:xfrm>
          <a:prstGeom prst="rect"/>
          <a:noFill/>
        </p:spPr>
        <p:txBody>
          <a:bodyPr wrap="square">
            <a:spAutoFit/>
          </a:bodyPr>
          <a:p>
            <a:pPr>
              <a:defRPr b="1" sz="1200">
                <a:solidFill>
                  <a:srgbClr val="FFFFFF"/>
                </a:solidFill>
                <a:latin typeface="Calibri"/>
              </a:defRPr>
            </a:pPr>
            <a:r>
              <a:t>GRAMMAR RULE:</a:t>
            </a:r>
          </a:p>
          <a:p>
            <a:pPr>
              <a:spcBef>
                <a:spcPts val="400"/>
              </a:spcBef>
              <a:defRPr b="1" sz="1800">
                <a:solidFill>
                  <a:srgbClr val="FFFFFF"/>
                </a:solidFill>
                <a:latin typeface="Arial"/>
              </a:defRPr>
            </a:pPr>
            <a:r>
              <a:t>from + COUNTRY  (e.g., I'm from Indonesia / She's from Mexico)</a:t>
            </a:r>
            <a:br/>
            <a:r>
              <a:t>be + NATIONALITY (e.g., I'm Indonesian / She's Mexican)</a:t>
            </a:r>
          </a:p>
        </p:txBody>
      </p:sp>
      <p:sp>
        <p:nvSpPr>
          <p:cNvPr id="1048641" name="Rounded Rectangle 4"/>
          <p:cNvSpPr/>
          <p:nvPr/>
        </p:nvSpPr>
        <p:spPr>
          <a:xfrm>
            <a:off x="731520" y="2926080"/>
            <a:ext cx="10728655" cy="329184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5"/>
          <p:cNvSpPr txBox="1"/>
          <p:nvPr/>
        </p:nvSpPr>
        <p:spPr>
          <a:xfrm>
            <a:off x="1005840" y="3108960"/>
            <a:ext cx="10180015" cy="15519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Quick Challenge: Complete the Sentences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1. I'm from [Indonesia].  -&gt;  2. I'm [Indonesian].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3. She's from [Japan].   -&gt;  4. She's [Japanese].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5. He's from [Brazil].   -&gt;  6. He's [Brazilian].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7. They're from [Mexico].-&gt;  8. They're [Mexican].</a:t>
            </a:r>
          </a:p>
        </p:txBody>
      </p:sp>
      <p:pic>
        <p:nvPicPr>
          <p:cNvPr id="209716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059433" y="95161"/>
            <a:ext cx="688537" cy="895439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1" name=""/>
        <p:cNvGrpSpPr/>
        <p:nvPr/>
      </p:nvGrpSpPr>
      <p:grpSpPr>
        <a:xfrm/>
      </p:grpSpPr>
      <p:sp>
        <p:nvSpPr>
          <p:cNvPr id="104864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Grammar Focus: Verb "BE" &amp; Questions</a:t>
            </a:r>
          </a:p>
        </p:txBody>
      </p:sp>
      <p:sp>
        <p:nvSpPr>
          <p:cNvPr id="1048644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TextBox 3"/>
          <p:cNvSpPr txBox="1"/>
          <p:nvPr/>
        </p:nvSpPr>
        <p:spPr>
          <a:xfrm>
            <a:off x="1005840" y="1645920"/>
            <a:ext cx="4572000" cy="18059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Verb "BE" &amp; Contractions</a:t>
            </a:r>
          </a:p>
          <a:p>
            <a:pPr>
              <a:spcBef>
                <a:spcPts val="8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I am -&gt; I'm</a:t>
            </a:r>
          </a:p>
          <a:p>
            <a:pPr>
              <a:defRPr sz="1200" i="1">
                <a:solidFill>
                  <a:srgbClr val="212529"/>
                </a:solidFill>
                <a:latin typeface="Calibri"/>
              </a:defRPr>
            </a:pPr>
            <a:r>
              <a:t>  Example: "I'm from Indonesia."</a:t>
            </a:r>
          </a:p>
          <a:p>
            <a:pPr>
              <a:spcBef>
                <a:spcPts val="8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He / She / It is -&gt; He's / She's / It's</a:t>
            </a:r>
          </a:p>
          <a:p>
            <a:pPr>
              <a:defRPr sz="1200" i="1">
                <a:solidFill>
                  <a:srgbClr val="212529"/>
                </a:solidFill>
                <a:latin typeface="Calibri"/>
              </a:defRPr>
            </a:pPr>
            <a:r>
              <a:t>  Example: "She's my classmate."</a:t>
            </a:r>
          </a:p>
          <a:p>
            <a:pPr>
              <a:spcBef>
                <a:spcPts val="800"/>
              </a:spcBef>
              <a:defRPr b="1" sz="1400">
                <a:solidFill>
                  <a:srgbClr val="0096A6"/>
                </a:solidFill>
                <a:latin typeface="Calibri"/>
              </a:defRPr>
            </a:pPr>
            <a:r>
              <a:t>• You / We / They are -&gt; You're / We're / They're</a:t>
            </a:r>
          </a:p>
          <a:p>
            <a:pPr>
              <a:defRPr sz="1200" i="1">
                <a:solidFill>
                  <a:srgbClr val="212529"/>
                </a:solidFill>
                <a:latin typeface="Calibri"/>
              </a:defRPr>
            </a:pPr>
            <a:r>
              <a:t>  Example: "We're students."</a:t>
            </a:r>
          </a:p>
        </p:txBody>
      </p:sp>
      <p:sp>
        <p:nvSpPr>
          <p:cNvPr id="1048646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TextBox 5"/>
          <p:cNvSpPr txBox="1"/>
          <p:nvPr/>
        </p:nvSpPr>
        <p:spPr>
          <a:xfrm>
            <a:off x="6492240" y="1645920"/>
            <a:ext cx="4693615" cy="20853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WH-Question Structure</a:t>
            </a:r>
          </a:p>
          <a:p>
            <a:pPr>
              <a:spcBef>
                <a:spcPts val="800"/>
              </a:spcBef>
              <a:defRPr b="1" sz="1500">
                <a:solidFill>
                  <a:srgbClr val="E07A5F"/>
                </a:solidFill>
                <a:latin typeface="Calibri"/>
              </a:defRPr>
            </a:pPr>
            <a:r>
              <a:t>Structure: WH + BE + SUBJECT?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Where + are + you + from?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What + is + your + name?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Who + is + she?</a:t>
            </a:r>
          </a:p>
          <a:p>
            <a:pPr>
              <a:spcBef>
                <a:spcPts val="1400"/>
              </a:spcBef>
              <a:defRPr b="1" sz="1300">
                <a:solidFill>
                  <a:srgbClr val="1B263B"/>
                </a:solidFill>
                <a:latin typeface="Calibri"/>
              </a:defRPr>
            </a:pPr>
            <a:r>
              <a:t>❌ NOT: Where you are from?</a:t>
            </a:r>
            <a:br/>
            <a:r>
              <a:t>✔ BUT: Where are you from?</a:t>
            </a:r>
          </a:p>
        </p:txBody>
      </p:sp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097889" y="91663"/>
            <a:ext cx="688537" cy="895439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2" name=""/>
        <p:cNvGrpSpPr/>
        <p:nvPr/>
      </p:nvGrpSpPr>
      <p:grpSpPr>
        <a:xfrm/>
      </p:grpSpPr>
      <p:sp>
        <p:nvSpPr>
          <p:cNvPr id="104864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Grammar Focus: Possessive Adjectives</a:t>
            </a:r>
          </a:p>
        </p:txBody>
      </p:sp>
      <p:sp>
        <p:nvSpPr>
          <p:cNvPr id="1048649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TextBox 3"/>
          <p:cNvSpPr txBox="1"/>
          <p:nvPr/>
        </p:nvSpPr>
        <p:spPr>
          <a:xfrm>
            <a:off x="1005840" y="1645920"/>
            <a:ext cx="4572000" cy="1882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Whose Is It?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I -&gt; my: "My name is Rina."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You -&gt; your: "What's your name?"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He -&gt; his: "His name is Arturo."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She -&gt; her: "Her name is Alexa."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We -&gt; our: "Our class is English 1."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• They -&gt; their: "Their teacher is Mr. Muslim."</a:t>
            </a:r>
          </a:p>
        </p:txBody>
      </p:sp>
      <p:sp>
        <p:nvSpPr>
          <p:cNvPr id="1048651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2" name="TextBox 5"/>
          <p:cNvSpPr txBox="1"/>
          <p:nvPr/>
        </p:nvSpPr>
        <p:spPr>
          <a:xfrm>
            <a:off x="6492240" y="1645920"/>
            <a:ext cx="4693615" cy="22377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Quick Grammar Check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1. I have a laptop. This is ___ laptop.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   Correct Answer: my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2. She has a phone. This is ___ phone.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   Correct Answer: her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3. We have a classroom. This is ___ classroom.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   Correct Answer: our</a:t>
            </a:r>
          </a:p>
          <a:p>
            <a:pPr>
              <a:spcBef>
                <a:spcPts val="800"/>
              </a:spcBef>
              <a:defRPr b="1" sz="1300">
                <a:solidFill>
                  <a:srgbClr val="212529"/>
                </a:solidFill>
                <a:latin typeface="Calibri"/>
              </a:defRPr>
            </a:pPr>
            <a:r>
              <a:t>4. They have a project. This is ___ project.</a:t>
            </a:r>
          </a:p>
          <a:p>
            <a:pPr>
              <a:defRPr b="1" sz="1200">
                <a:solidFill>
                  <a:srgbClr val="0096A6"/>
                </a:solidFill>
                <a:latin typeface="Calibri"/>
              </a:defRPr>
            </a:pPr>
            <a:r>
              <a:t>   Correct Answer: their</a:t>
            </a:r>
          </a:p>
        </p:txBody>
      </p:sp>
      <p:pic>
        <p:nvPicPr>
          <p:cNvPr id="209716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194020" y="178391"/>
            <a:ext cx="688537" cy="895439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3" name=""/>
        <p:cNvGrpSpPr/>
        <p:nvPr/>
      </p:nvGrpSpPr>
      <p:grpSpPr>
        <a:xfrm/>
      </p:grpSpPr>
      <p:sp>
        <p:nvSpPr>
          <p:cNvPr id="104865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Pronunciation: Linked Sounds</a:t>
            </a:r>
          </a:p>
        </p:txBody>
      </p:sp>
      <p:sp>
        <p:nvSpPr>
          <p:cNvPr id="1048654" name="Rounded Rectangle 2"/>
          <p:cNvSpPr/>
          <p:nvPr/>
        </p:nvSpPr>
        <p:spPr>
          <a:xfrm>
            <a:off x="731520" y="1371600"/>
            <a:ext cx="10728655" cy="109728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TextBox 3"/>
          <p:cNvSpPr txBox="1"/>
          <p:nvPr/>
        </p:nvSpPr>
        <p:spPr>
          <a:xfrm>
            <a:off x="914400" y="1508760"/>
            <a:ext cx="6033711" cy="3327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1600">
                <a:solidFill>
                  <a:srgbClr val="FFFFFF"/>
                </a:solidFill>
                <a:latin typeface="Arial"/>
              </a:defRPr>
            </a:pPr>
            <a:r>
              <a:t>In spoken English, words often connect smoothly without pauses!</a:t>
            </a:r>
          </a:p>
        </p:txBody>
      </p:sp>
      <p:sp>
        <p:nvSpPr>
          <p:cNvPr id="1048656" name="Rounded Rectangle 4"/>
          <p:cNvSpPr/>
          <p:nvPr/>
        </p:nvSpPr>
        <p:spPr>
          <a:xfrm>
            <a:off x="731520" y="2651760"/>
            <a:ext cx="10728655" cy="356616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5"/>
          <p:cNvSpPr txBox="1"/>
          <p:nvPr/>
        </p:nvSpPr>
        <p:spPr>
          <a:xfrm>
            <a:off x="1097280" y="2834640"/>
            <a:ext cx="9997135" cy="22377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0096A6"/>
                </a:solidFill>
                <a:latin typeface="Arial"/>
              </a:defRPr>
            </a:pPr>
            <a:r>
              <a:t>Listen and Repeat: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I'm_a student.        (sounds like 'I-ma student')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She's_a classmate.     (sounds like 'She-za classmate')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My_name_is Alexa.      (sounds like 'My-na-miz Alexa')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I'm_from Indonesia.   (connected smooth flow)</a:t>
            </a:r>
          </a:p>
          <a:p>
            <a:pPr>
              <a:spcBef>
                <a:spcPts val="8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What_is_your name?     (sounds like 'Wha-ti-zyour name?')</a:t>
            </a:r>
          </a:p>
          <a:p>
            <a:pPr>
              <a:spcBef>
                <a:spcPts val="14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3 Steps to Master: 1. Listen  -&gt;  2. Repeat  -&gt;  3. Speak naturally!</a:t>
            </a:r>
          </a:p>
        </p:txBody>
      </p: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183122" y="178391"/>
            <a:ext cx="688537" cy="895439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4" name=""/>
        <p:cNvGrpSpPr/>
        <p:nvPr/>
      </p:nvGrpSpPr>
      <p:grpSpPr>
        <a:xfrm/>
      </p:grpSpPr>
      <p:sp>
        <p:nvSpPr>
          <p:cNvPr id="104865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Classroom Activities &amp; Interaction</a:t>
            </a:r>
          </a:p>
        </p:txBody>
      </p:sp>
      <p:sp>
        <p:nvSpPr>
          <p:cNvPr id="1048659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3"/>
          <p:cNvSpPr txBox="1"/>
          <p:nvPr/>
        </p:nvSpPr>
        <p:spPr>
          <a:xfrm>
            <a:off x="1005840" y="1645920"/>
            <a:ext cx="4572000" cy="20345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Activity 1: Find Someone Who...</a:t>
            </a:r>
          </a:p>
          <a:p>
            <a:pPr>
              <a:spcBef>
                <a:spcPts val="400"/>
              </a:spcBef>
              <a:defRPr sz="1200">
                <a:solidFill>
                  <a:srgbClr val="6C757D"/>
                </a:solidFill>
                <a:latin typeface="Calibri"/>
              </a:defRPr>
            </a:pPr>
            <a:r>
              <a:t>Walk around the room &amp; ask in English: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...is from Bekasi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...is from Jakarta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...has a nickname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...likes English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...likes technology / programming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☐ ...has an interesting hobby</a:t>
            </a:r>
          </a:p>
        </p:txBody>
      </p:sp>
      <p:sp>
        <p:nvSpPr>
          <p:cNvPr id="1048661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TextBox 5"/>
          <p:cNvSpPr txBox="1"/>
          <p:nvPr/>
        </p:nvSpPr>
        <p:spPr>
          <a:xfrm>
            <a:off x="6492240" y="1645920"/>
            <a:ext cx="4693615" cy="19202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Activity 2: Mini Interview</a:t>
            </a:r>
          </a:p>
          <a:p>
            <a:pPr>
              <a:spcBef>
                <a:spcPts val="400"/>
              </a:spcBef>
              <a:defRPr sz="1200">
                <a:solidFill>
                  <a:srgbClr val="6C757D"/>
                </a:solidFill>
                <a:latin typeface="Calibri"/>
              </a:defRPr>
            </a:pPr>
            <a:r>
              <a:t>Interview your partner and note down: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• Full name  : What's your name?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• Nickname   : What do people call you?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• Origin/City: Where are you from?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• Major      : What's your major?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• Hobby      : What's your hobby?</a:t>
            </a:r>
          </a:p>
        </p:txBody>
      </p:sp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189689" y="178390"/>
            <a:ext cx="688537" cy="895439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5" name=""/>
        <p:cNvGrpSpPr/>
        <p:nvPr/>
      </p:nvGrpSpPr>
      <p:grpSpPr>
        <a:xfrm/>
      </p:grpSpPr>
      <p:sp>
        <p:nvSpPr>
          <p:cNvPr id="104866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Introducing Your Classmate</a:t>
            </a:r>
          </a:p>
        </p:txBody>
      </p:sp>
      <p:sp>
        <p:nvSpPr>
          <p:cNvPr id="1048664" name="Rounded Rectangle 2"/>
          <p:cNvSpPr/>
          <p:nvPr/>
        </p:nvSpPr>
        <p:spPr>
          <a:xfrm>
            <a:off x="1097280" y="1463040"/>
            <a:ext cx="9997135" cy="38404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TextBox 3"/>
          <p:cNvSpPr txBox="1"/>
          <p:nvPr/>
        </p:nvSpPr>
        <p:spPr>
          <a:xfrm>
            <a:off x="1371600" y="1645920"/>
            <a:ext cx="9448495" cy="23139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THIS IS MY CLASSMATE (PRESENTATION FRAMEWORK)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This is [Name].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Her/His full name is [Full Name].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People call her/him [Nickname].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She's/He's from [City].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She's/He's a Computer Engineering student.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✔ Her/His hobby is [Hobby].</a:t>
            </a:r>
          </a:p>
          <a:p>
            <a:pPr>
              <a:spcBef>
                <a:spcPts val="800"/>
              </a:spcBef>
              <a:defRPr sz="1200" i="1">
                <a:solidFill>
                  <a:srgbClr val="6C757D"/>
                </a:solidFill>
                <a:latin typeface="Calibri"/>
              </a:defRPr>
            </a:pPr>
            <a:r>
              <a:t>Example: "This is Rina. Her full name is Rina Amelia. People call her Rina. She's from Bekasi. She's a Computer Engineering student. Her hobby is listening to music."</a:t>
            </a:r>
          </a:p>
        </p:txBody>
      </p:sp>
      <p:sp>
        <p:nvSpPr>
          <p:cNvPr id="1048666" name="Rounded Rectangle 4"/>
          <p:cNvSpPr/>
          <p:nvPr/>
        </p:nvSpPr>
        <p:spPr>
          <a:xfrm>
            <a:off x="1097280" y="5486400"/>
            <a:ext cx="9997135" cy="731520"/>
          </a:xfrm>
          <a:prstGeom prst="roundRect"/>
          <a:solidFill>
            <a:srgbClr val="E07A5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7" name="TextBox 5"/>
          <p:cNvSpPr txBox="1"/>
          <p:nvPr/>
        </p:nvSpPr>
        <p:spPr>
          <a:xfrm>
            <a:off x="1280160" y="5623560"/>
            <a:ext cx="6672184" cy="3200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1500">
                <a:solidFill>
                  <a:srgbClr val="FFFFFF"/>
                </a:solidFill>
                <a:latin typeface="Calibri"/>
              </a:defRPr>
            </a:pPr>
            <a:r>
              <a:t>🔥 30-Second Speaking Challenge: Introduce your partner aloud to the class!</a:t>
            </a:r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207508" y="57927"/>
            <a:ext cx="688537" cy="895439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6" name=""/>
        <p:cNvGrpSpPr/>
        <p:nvPr/>
      </p:nvGrpSpPr>
      <p:grpSpPr>
        <a:xfrm/>
      </p:grpSpPr>
      <p:sp>
        <p:nvSpPr>
          <p:cNvPr id="1048668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Mini Quiz &amp; Exit Ticket</a:t>
            </a:r>
          </a:p>
        </p:txBody>
      </p:sp>
      <p:sp>
        <p:nvSpPr>
          <p:cNvPr id="1048669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0" name="TextBox 3"/>
          <p:cNvSpPr txBox="1"/>
          <p:nvPr/>
        </p:nvSpPr>
        <p:spPr>
          <a:xfrm>
            <a:off x="1005840" y="1645920"/>
            <a:ext cx="4572000" cy="17043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Correct or Incorrect?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1. I'm from Indonesia. -&gt; </a:t>
            </a:r>
            <a:r>
              <a:rPr b="1">
                <a:solidFill>
                  <a:srgbClr val="0096A6"/>
                </a:solidFill>
              </a:rPr>
              <a:t>✔ Correct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2. She are my classmate. -&gt; </a:t>
            </a:r>
            <a:r>
              <a:rPr b="1">
                <a:solidFill>
                  <a:srgbClr val="E07A5F"/>
                </a:solidFill>
              </a:rPr>
              <a:t>❌ She IS my classmate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3. Where you are from? -&gt; </a:t>
            </a:r>
            <a:r>
              <a:rPr b="1">
                <a:solidFill>
                  <a:srgbClr val="E07A5F"/>
                </a:solidFill>
              </a:rPr>
              <a:t>❌ Where ARE YOU from?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4. What's your name? -&gt; </a:t>
            </a:r>
            <a:r>
              <a:rPr b="1">
                <a:solidFill>
                  <a:srgbClr val="0096A6"/>
                </a:solidFill>
              </a:rPr>
              <a:t>✔ Correct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5. He is from Jakarta. -&gt; </a:t>
            </a:r>
            <a:r>
              <a:rPr b="1">
                <a:solidFill>
                  <a:srgbClr val="0096A6"/>
                </a:solidFill>
              </a:rPr>
              <a:t>✔ Correct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6. They is students. -&gt; </a:t>
            </a:r>
            <a:r>
              <a:rPr b="1">
                <a:solidFill>
                  <a:srgbClr val="E07A5F"/>
                </a:solidFill>
              </a:rPr>
              <a:t>❌ They ARE students</a:t>
            </a:r>
          </a:p>
        </p:txBody>
      </p:sp>
      <p:sp>
        <p:nvSpPr>
          <p:cNvPr id="1048671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5"/>
          <p:cNvSpPr txBox="1"/>
          <p:nvPr/>
        </p:nvSpPr>
        <p:spPr>
          <a:xfrm>
            <a:off x="6492240" y="1645920"/>
            <a:ext cx="4693615" cy="2072640"/>
          </a:xfrm>
          <a:prstGeom prst="rect"/>
          <a:noFill/>
        </p:spPr>
        <p:txBody>
          <a:bodyPr wrap="square">
            <a:spAutoFit/>
          </a:bodyPr>
          <a:p>
            <a:pPr>
              <a:defRPr b="1" sz="1600">
                <a:solidFill>
                  <a:srgbClr val="1B263B"/>
                </a:solidFill>
                <a:latin typeface="Arial"/>
              </a:defRPr>
            </a:pPr>
            <a:r>
              <a:t>Exit Ticket (Before You Leave)</a:t>
            </a:r>
          </a:p>
          <a:p>
            <a:pPr>
              <a:spcBef>
                <a:spcPts val="400"/>
              </a:spcBef>
              <a:defRPr sz="1200">
                <a:solidFill>
                  <a:srgbClr val="6C757D"/>
                </a:solidFill>
                <a:latin typeface="Calibri"/>
              </a:defRPr>
            </a:pPr>
            <a:r>
              <a:t>Complete these 7 statements on your exit slip: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1. My name is ________.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2. I'm from ________.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3. I'm a ________ student.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4. My hobby is ________.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5. My classmate's name is ________.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6. He/She is from ________.</a:t>
            </a:r>
          </a:p>
          <a:p>
            <a:pPr>
              <a:spcBef>
                <a:spcPts val="300"/>
              </a:spcBef>
              <a:defRPr sz="1200">
                <a:solidFill>
                  <a:srgbClr val="212529"/>
                </a:solidFill>
                <a:latin typeface="Calibri"/>
              </a:defRPr>
            </a:pPr>
            <a:r>
              <a:t>7. His/Her hobby is ________.</a:t>
            </a:r>
          </a:p>
        </p:txBody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261260" y="119305"/>
            <a:ext cx="688537" cy="895439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47" name=""/>
        <p:cNvGrpSpPr/>
        <p:nvPr/>
      </p:nvGrpSpPr>
      <p:grpSpPr>
        <a:xfrm/>
      </p:grpSpPr>
      <p:sp>
        <p:nvSpPr>
          <p:cNvPr id="1048673" name="TextBox 1"/>
          <p:cNvSpPr txBox="1"/>
          <p:nvPr/>
        </p:nvSpPr>
        <p:spPr>
          <a:xfrm>
            <a:off x="731520" y="365760"/>
            <a:ext cx="10728655" cy="520700"/>
          </a:xfrm>
          <a:prstGeom prst="rect"/>
          <a:noFill/>
        </p:spPr>
        <p:txBody>
          <a:bodyPr bIns="0" lIns="0" rIns="0" tIns="0" wrap="square">
            <a:spAutoFit/>
          </a:bodyPr>
          <a:p>
            <a:pPr>
              <a:defRPr b="1" sz="1000">
                <a:solidFill>
                  <a:srgbClr val="0096A6"/>
                </a:solidFill>
                <a:latin typeface="Calibri"/>
              </a:defRPr>
            </a:pPr>
            <a:r>
              <a:t>ENGLISH 1 • MEETING 1</a:t>
            </a:r>
          </a:p>
          <a:p>
            <a:pPr>
              <a:spcBef>
                <a:spcPts val="200"/>
              </a:spcBef>
              <a:defRPr b="1" sz="2400">
                <a:solidFill>
                  <a:srgbClr val="1B263B"/>
                </a:solidFill>
                <a:latin typeface="Arial"/>
              </a:defRPr>
            </a:pPr>
            <a:r>
              <a:t>Today's Takeaways &amp; Homework</a:t>
            </a:r>
          </a:p>
        </p:txBody>
      </p:sp>
      <p:sp>
        <p:nvSpPr>
          <p:cNvPr id="1048674" name="Rounded Rectangle 2"/>
          <p:cNvSpPr/>
          <p:nvPr/>
        </p:nvSpPr>
        <p:spPr>
          <a:xfrm>
            <a:off x="731520" y="1463040"/>
            <a:ext cx="5120640" cy="4754880"/>
          </a:xfrm>
          <a:prstGeom prst="roundRect"/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TextBox 3"/>
          <p:cNvSpPr txBox="1"/>
          <p:nvPr/>
        </p:nvSpPr>
        <p:spPr>
          <a:xfrm>
            <a:off x="1005840" y="1645920"/>
            <a:ext cx="4572000" cy="22250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1B263B"/>
                </a:solidFill>
                <a:latin typeface="Arial"/>
              </a:defRPr>
            </a:pPr>
            <a:r>
              <a:t>Today I Can... ☑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Introduce myself in English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Ask someone's name &amp; nickname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Ask where someone is from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Spell a name letter by letter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Talk about countries &amp; nationalities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Use am / is / are &amp; possessives correctly</a:t>
            </a:r>
          </a:p>
          <a:p>
            <a:pPr>
              <a:spcBef>
                <a:spcPts val="600"/>
              </a:spcBef>
              <a:defRPr sz="1300">
                <a:solidFill>
                  <a:srgbClr val="0096A6"/>
                </a:solidFill>
                <a:latin typeface="Calibri"/>
              </a:defRPr>
            </a:pPr>
            <a:r>
              <a:t>☑ Introduce a classmate</a:t>
            </a:r>
          </a:p>
        </p:txBody>
      </p:sp>
      <p:sp>
        <p:nvSpPr>
          <p:cNvPr id="1048676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/>
          <a:solidFill>
            <a:srgbClr val="1B263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TextBox 5"/>
          <p:cNvSpPr txBox="1"/>
          <p:nvPr/>
        </p:nvSpPr>
        <p:spPr>
          <a:xfrm>
            <a:off x="6492240" y="1645920"/>
            <a:ext cx="4693615" cy="20599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  <a:latin typeface="Arial"/>
              </a:defRPr>
            </a:pPr>
            <a:r>
              <a:t>YOUR FIRST ENGLISH CHALLENGE!</a:t>
            </a:r>
          </a:p>
          <a:p>
            <a:pPr>
              <a:spcBef>
                <a:spcPts val="800"/>
              </a:spcBef>
              <a:defRPr sz="1200">
                <a:solidFill>
                  <a:srgbClr val="DCE1E6"/>
                </a:solidFill>
                <a:latin typeface="Calibri"/>
              </a:defRPr>
            </a:pPr>
            <a:r>
              <a:t>Prepare a short self-introduction (5–6 sentences):</a:t>
            </a:r>
            <a:br/>
            <a:r>
              <a:t>1. Hi, my name is ______.</a:t>
            </a:r>
            <a:br/>
            <a:r>
              <a:t>2. People call me ______.</a:t>
            </a:r>
            <a:br/>
            <a:r>
              <a:t>3. I'm from ______.</a:t>
            </a:r>
            <a:br/>
            <a:r>
              <a:t>4. I'm a Computer Engineering student.</a:t>
            </a:r>
            <a:br/>
            <a:r>
              <a:t>5. My hobby is ______.</a:t>
            </a:r>
            <a:br/>
            <a:r>
              <a:t>6. I like ______.</a:t>
            </a:r>
          </a:p>
          <a:p>
            <a:pPr>
              <a:spcBef>
                <a:spcPts val="1200"/>
              </a:spcBef>
              <a:defRPr b="1" sz="1400">
                <a:solidFill>
                  <a:srgbClr val="E07A5F"/>
                </a:solidFill>
                <a:latin typeface="Calibri"/>
              </a:defRPr>
            </a:pPr>
            <a:r>
              <a:t>⚡ Next Meeting: Be ready to speak WITHOUT reading!</a:t>
            </a:r>
          </a:p>
        </p:txBody>
      </p: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497318" y="0"/>
            <a:ext cx="688537" cy="895439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24018RPACG</dc:creator>
  <cp:lastModifiedBy>Steve Canny</cp:lastModifiedBy>
  <dcterms:created xsi:type="dcterms:W3CDTF">2013-01-26T19:14:16Z</dcterms:created>
  <dcterms:modified xsi:type="dcterms:W3CDTF">2026-09-20T16:50:44Z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4da2ddfd69d34741bdce8f1cc741e7ff_23</vt:lpwstr>
  </property>
</Properties>
</file>